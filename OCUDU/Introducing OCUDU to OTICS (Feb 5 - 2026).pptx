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9" r:id="rId1"/>
  </p:sldMasterIdLst>
  <p:notesMasterIdLst>
    <p:notesMasterId r:id="rId14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134805629" r:id="rId11"/>
    <p:sldId id="2134805630" r:id="rId12"/>
    <p:sldId id="276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Medium" panose="020B0604020202020204" charset="0"/>
      <p:regular r:id="rId23"/>
      <p:bold r:id="rId24"/>
      <p:italic r:id="rId25"/>
      <p:boldItalic r:id="rId26"/>
    </p:embeddedFont>
    <p:embeddedFont>
      <p:font typeface="Verdana" panose="020B060403050404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FF4FB-E49C-43AC-804F-8FD2081AFE0D}" v="6" dt="2026-02-10T22:23:34.512"/>
  </p1510:revLst>
</p1510:revInfo>
</file>

<file path=ppt/tableStyles.xml><?xml version="1.0" encoding="utf-8"?>
<a:tblStyleLst xmlns:a="http://schemas.openxmlformats.org/drawingml/2006/main" def="{4284B0DA-4661-4FFC-B13A-655E11D6F290}">
  <a:tblStyle styleId="{4284B0DA-4661-4FFC-B13A-655E11D6F2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920" y="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 Puthenpura" userId="f80d37125cf9970a" providerId="LiveId" clId="{8DF0172B-B89F-4B4C-A92D-D2EFB6960A88}"/>
    <pc:docChg chg="undo redo custSel addSld delSld modSld sldOrd modMainMaster">
      <pc:chgData name="Sarat Puthenpura" userId="f80d37125cf9970a" providerId="LiveId" clId="{8DF0172B-B89F-4B4C-A92D-D2EFB6960A88}" dt="2026-02-10T22:26:29.022" v="192" actId="404"/>
      <pc:docMkLst>
        <pc:docMk/>
      </pc:docMkLst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56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57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58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59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0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1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2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3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4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5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6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7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8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69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0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1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2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3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4"/>
        </pc:sldMkLst>
      </pc:sldChg>
      <pc:sldChg chg="del">
        <pc:chgData name="Sarat Puthenpura" userId="f80d37125cf9970a" providerId="LiveId" clId="{8DF0172B-B89F-4B4C-A92D-D2EFB6960A88}" dt="2026-02-10T22:25:08.510" v="177" actId="47"/>
        <pc:sldMkLst>
          <pc:docMk/>
          <pc:sldMk cId="0" sldId="275"/>
        </pc:sldMkLst>
      </pc:sldChg>
      <pc:sldChg chg="ord">
        <pc:chgData name="Sarat Puthenpura" userId="f80d37125cf9970a" providerId="LiveId" clId="{8DF0172B-B89F-4B4C-A92D-D2EFB6960A88}" dt="2026-02-10T22:24:44.882" v="175"/>
        <pc:sldMkLst>
          <pc:docMk/>
          <pc:sldMk cId="0" sldId="276"/>
        </pc:sldMkLst>
      </pc:sldChg>
      <pc:sldChg chg="addSp delSp modSp add del mod modClrScheme chgLayout">
        <pc:chgData name="Sarat Puthenpura" userId="f80d37125cf9970a" providerId="LiveId" clId="{8DF0172B-B89F-4B4C-A92D-D2EFB6960A88}" dt="2026-02-10T22:26:29.022" v="192" actId="404"/>
        <pc:sldMkLst>
          <pc:docMk/>
          <pc:sldMk cId="2843373279" sldId="277"/>
        </pc:sldMkLst>
        <pc:spChg chg="mod ord">
          <ac:chgData name="Sarat Puthenpura" userId="f80d37125cf9970a" providerId="LiveId" clId="{8DF0172B-B89F-4B4C-A92D-D2EFB6960A88}" dt="2026-02-10T22:26:29.022" v="192" actId="404"/>
          <ac:spMkLst>
            <pc:docMk/>
            <pc:sldMk cId="2843373279" sldId="277"/>
            <ac:spMk id="2" creationId="{8881E6DE-D026-9124-D68E-6AADAE4BE061}"/>
          </ac:spMkLst>
        </pc:spChg>
        <pc:spChg chg="add del">
          <ac:chgData name="Sarat Puthenpura" userId="f80d37125cf9970a" providerId="LiveId" clId="{8DF0172B-B89F-4B4C-A92D-D2EFB6960A88}" dt="2026-02-10T22:19:55.090" v="30" actId="700"/>
          <ac:spMkLst>
            <pc:docMk/>
            <pc:sldMk cId="2843373279" sldId="277"/>
            <ac:spMk id="3" creationId="{4201D299-254A-BB90-6F10-DE15DDED24C4}"/>
          </ac:spMkLst>
        </pc:spChg>
        <pc:spChg chg="add mod ord">
          <ac:chgData name="Sarat Puthenpura" userId="f80d37125cf9970a" providerId="LiveId" clId="{8DF0172B-B89F-4B4C-A92D-D2EFB6960A88}" dt="2026-02-10T22:24:57.419" v="176" actId="20577"/>
          <ac:spMkLst>
            <pc:docMk/>
            <pc:sldMk cId="2843373279" sldId="277"/>
            <ac:spMk id="4" creationId="{A6684391-B6EC-944F-25C6-67B07D8FC560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0:52.926" v="122" actId="700"/>
        <pc:sldMkLst>
          <pc:docMk/>
          <pc:sldMk cId="2549032379" sldId="278"/>
        </pc:sldMkLst>
        <pc:spChg chg="mod ord">
          <ac:chgData name="Sarat Puthenpura" userId="f80d37125cf9970a" providerId="LiveId" clId="{8DF0172B-B89F-4B4C-A92D-D2EFB6960A88}" dt="2026-02-10T22:20:52.926" v="122" actId="700"/>
          <ac:spMkLst>
            <pc:docMk/>
            <pc:sldMk cId="2549032379" sldId="278"/>
            <ac:spMk id="2" creationId="{92CF96C4-EEEE-3D0E-83A2-E77B2859D040}"/>
          </ac:spMkLst>
        </pc:spChg>
        <pc:spChg chg="mod ord">
          <ac:chgData name="Sarat Puthenpura" userId="f80d37125cf9970a" providerId="LiveId" clId="{8DF0172B-B89F-4B4C-A92D-D2EFB6960A88}" dt="2026-02-10T22:20:52.926" v="122" actId="700"/>
          <ac:spMkLst>
            <pc:docMk/>
            <pc:sldMk cId="2549032379" sldId="278"/>
            <ac:spMk id="3" creationId="{D30FC943-75D9-A93D-F48A-B94A0C5E3D55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1:42.039" v="131" actId="700"/>
        <pc:sldMkLst>
          <pc:docMk/>
          <pc:sldMk cId="2829376329" sldId="279"/>
        </pc:sldMkLst>
        <pc:spChg chg="mod ord">
          <ac:chgData name="Sarat Puthenpura" userId="f80d37125cf9970a" providerId="LiveId" clId="{8DF0172B-B89F-4B4C-A92D-D2EFB6960A88}" dt="2026-02-10T22:21:42.039" v="131" actId="700"/>
          <ac:spMkLst>
            <pc:docMk/>
            <pc:sldMk cId="2829376329" sldId="279"/>
            <ac:spMk id="2" creationId="{6611BF8B-53AF-84D5-E672-83ACBE32EFF1}"/>
          </ac:spMkLst>
        </pc:spChg>
        <pc:spChg chg="mod ord">
          <ac:chgData name="Sarat Puthenpura" userId="f80d37125cf9970a" providerId="LiveId" clId="{8DF0172B-B89F-4B4C-A92D-D2EFB6960A88}" dt="2026-02-10T22:21:42.039" v="131" actId="700"/>
          <ac:spMkLst>
            <pc:docMk/>
            <pc:sldMk cId="2829376329" sldId="279"/>
            <ac:spMk id="3" creationId="{7B08A898-3F12-5AB4-5E7F-1D8AAC757EE4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2:54.678" v="161" actId="1076"/>
        <pc:sldMkLst>
          <pc:docMk/>
          <pc:sldMk cId="2209278967" sldId="280"/>
        </pc:sldMkLst>
        <pc:spChg chg="mod ord">
          <ac:chgData name="Sarat Puthenpura" userId="f80d37125cf9970a" providerId="LiveId" clId="{8DF0172B-B89F-4B4C-A92D-D2EFB6960A88}" dt="2026-02-10T22:22:50.119" v="160" actId="1076"/>
          <ac:spMkLst>
            <pc:docMk/>
            <pc:sldMk cId="2209278967" sldId="280"/>
            <ac:spMk id="2" creationId="{5212F476-23B5-5734-188E-981571DB75E6}"/>
          </ac:spMkLst>
        </pc:spChg>
        <pc:spChg chg="mod ord">
          <ac:chgData name="Sarat Puthenpura" userId="f80d37125cf9970a" providerId="LiveId" clId="{8DF0172B-B89F-4B4C-A92D-D2EFB6960A88}" dt="2026-02-10T22:22:54.678" v="161" actId="1076"/>
          <ac:spMkLst>
            <pc:docMk/>
            <pc:sldMk cId="2209278967" sldId="280"/>
            <ac:spMk id="3" creationId="{E4438846-EF00-7904-95C2-87510AC21149}"/>
          </ac:spMkLst>
        </pc:spChg>
      </pc:sldChg>
      <pc:sldChg chg="modSp add del mod">
        <pc:chgData name="Sarat Puthenpura" userId="f80d37125cf9970a" providerId="LiveId" clId="{8DF0172B-B89F-4B4C-A92D-D2EFB6960A88}" dt="2026-02-10T22:18:52.521" v="22" actId="27636"/>
        <pc:sldMkLst>
          <pc:docMk/>
          <pc:sldMk cId="3340880759" sldId="281"/>
        </pc:sldMkLst>
        <pc:spChg chg="mod">
          <ac:chgData name="Sarat Puthenpura" userId="f80d37125cf9970a" providerId="LiveId" clId="{8DF0172B-B89F-4B4C-A92D-D2EFB6960A88}" dt="2026-02-10T22:18:52.521" v="22" actId="27636"/>
          <ac:spMkLst>
            <pc:docMk/>
            <pc:sldMk cId="3340880759" sldId="281"/>
            <ac:spMk id="2" creationId="{5AFEDFF3-F46C-C22E-10B6-9F0839131174}"/>
          </ac:spMkLst>
        </pc:spChg>
      </pc:sldChg>
      <pc:sldChg chg="modSp add del mod">
        <pc:chgData name="Sarat Puthenpura" userId="f80d37125cf9970a" providerId="LiveId" clId="{8DF0172B-B89F-4B4C-A92D-D2EFB6960A88}" dt="2026-02-10T22:18:52.523" v="23" actId="27636"/>
        <pc:sldMkLst>
          <pc:docMk/>
          <pc:sldMk cId="575981409" sldId="282"/>
        </pc:sldMkLst>
        <pc:spChg chg="mod">
          <ac:chgData name="Sarat Puthenpura" userId="f80d37125cf9970a" providerId="LiveId" clId="{8DF0172B-B89F-4B4C-A92D-D2EFB6960A88}" dt="2026-02-10T22:18:52.523" v="23" actId="27636"/>
          <ac:spMkLst>
            <pc:docMk/>
            <pc:sldMk cId="575981409" sldId="282"/>
            <ac:spMk id="3" creationId="{745643F1-FEDD-1A69-FA36-01AC480FDFC7}"/>
          </ac:spMkLst>
        </pc:spChg>
      </pc:sldChg>
      <pc:sldChg chg="modSp add del mod">
        <pc:chgData name="Sarat Puthenpura" userId="f80d37125cf9970a" providerId="LiveId" clId="{8DF0172B-B89F-4B4C-A92D-D2EFB6960A88}" dt="2026-02-10T22:18:52.537" v="24" actId="27636"/>
        <pc:sldMkLst>
          <pc:docMk/>
          <pc:sldMk cId="1479085530" sldId="283"/>
        </pc:sldMkLst>
        <pc:spChg chg="mod">
          <ac:chgData name="Sarat Puthenpura" userId="f80d37125cf9970a" providerId="LiveId" clId="{8DF0172B-B89F-4B4C-A92D-D2EFB6960A88}" dt="2026-02-10T22:18:52.537" v="24" actId="27636"/>
          <ac:spMkLst>
            <pc:docMk/>
            <pc:sldMk cId="1479085530" sldId="283"/>
            <ac:spMk id="2" creationId="{FE49F176-AA33-08E5-0F2F-49F5D0AB2963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3:09.949" v="162" actId="700"/>
        <pc:sldMkLst>
          <pc:docMk/>
          <pc:sldMk cId="132080288" sldId="284"/>
        </pc:sldMkLst>
        <pc:spChg chg="mod ord">
          <ac:chgData name="Sarat Puthenpura" userId="f80d37125cf9970a" providerId="LiveId" clId="{8DF0172B-B89F-4B4C-A92D-D2EFB6960A88}" dt="2026-02-10T22:23:09.949" v="162" actId="700"/>
          <ac:spMkLst>
            <pc:docMk/>
            <pc:sldMk cId="132080288" sldId="284"/>
            <ac:spMk id="2" creationId="{4B9EBB7E-C1A5-55CD-15D8-22B76CA85B0D}"/>
          </ac:spMkLst>
        </pc:spChg>
        <pc:spChg chg="mod ord">
          <ac:chgData name="Sarat Puthenpura" userId="f80d37125cf9970a" providerId="LiveId" clId="{8DF0172B-B89F-4B4C-A92D-D2EFB6960A88}" dt="2026-02-10T22:23:09.949" v="162" actId="700"/>
          <ac:spMkLst>
            <pc:docMk/>
            <pc:sldMk cId="132080288" sldId="284"/>
            <ac:spMk id="3" creationId="{8BEA243A-B935-1F41-9607-C5676DA33D14}"/>
          </ac:spMkLst>
        </pc:spChg>
      </pc:sldChg>
      <pc:sldChg chg="addSp delSp modSp add del mod modClrScheme chgLayout">
        <pc:chgData name="Sarat Puthenpura" userId="f80d37125cf9970a" providerId="LiveId" clId="{8DF0172B-B89F-4B4C-A92D-D2EFB6960A88}" dt="2026-02-10T22:23:40.833" v="168" actId="478"/>
        <pc:sldMkLst>
          <pc:docMk/>
          <pc:sldMk cId="3932411006" sldId="285"/>
        </pc:sldMkLst>
        <pc:spChg chg="add mod ord">
          <ac:chgData name="Sarat Puthenpura" userId="f80d37125cf9970a" providerId="LiveId" clId="{8DF0172B-B89F-4B4C-A92D-D2EFB6960A88}" dt="2026-02-10T22:23:34.616" v="166" actId="27636"/>
          <ac:spMkLst>
            <pc:docMk/>
            <pc:sldMk cId="3932411006" sldId="285"/>
            <ac:spMk id="2" creationId="{F7894645-1563-F5FE-3021-0BDFBA53BDAC}"/>
          </ac:spMkLst>
        </pc:spChg>
        <pc:spChg chg="del mod ord">
          <ac:chgData name="Sarat Puthenpura" userId="f80d37125cf9970a" providerId="LiveId" clId="{8DF0172B-B89F-4B4C-A92D-D2EFB6960A88}" dt="2026-02-10T22:23:40.833" v="168" actId="478"/>
          <ac:spMkLst>
            <pc:docMk/>
            <pc:sldMk cId="3932411006" sldId="285"/>
            <ac:spMk id="3" creationId="{63B1B362-C0A6-C31C-F48A-B92FB2671AE3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4:00.300" v="171" actId="1076"/>
        <pc:sldMkLst>
          <pc:docMk/>
          <pc:sldMk cId="3182350280" sldId="2134805629"/>
        </pc:sldMkLst>
        <pc:spChg chg="mod ord">
          <ac:chgData name="Sarat Puthenpura" userId="f80d37125cf9970a" providerId="LiveId" clId="{8DF0172B-B89F-4B4C-A92D-D2EFB6960A88}" dt="2026-02-10T22:24:00.300" v="171" actId="1076"/>
          <ac:spMkLst>
            <pc:docMk/>
            <pc:sldMk cId="3182350280" sldId="2134805629"/>
            <ac:spMk id="2" creationId="{C7A06997-65BE-C8F6-892F-111AA3D04DC6}"/>
          </ac:spMkLst>
        </pc:spChg>
      </pc:sldChg>
      <pc:sldChg chg="modSp add del mod modClrScheme chgLayout">
        <pc:chgData name="Sarat Puthenpura" userId="f80d37125cf9970a" providerId="LiveId" clId="{8DF0172B-B89F-4B4C-A92D-D2EFB6960A88}" dt="2026-02-10T22:24:24.164" v="173" actId="1076"/>
        <pc:sldMkLst>
          <pc:docMk/>
          <pc:sldMk cId="1555777624" sldId="2134805630"/>
        </pc:sldMkLst>
        <pc:spChg chg="mod ord">
          <ac:chgData name="Sarat Puthenpura" userId="f80d37125cf9970a" providerId="LiveId" clId="{8DF0172B-B89F-4B4C-A92D-D2EFB6960A88}" dt="2026-02-10T22:24:24.164" v="173" actId="1076"/>
          <ac:spMkLst>
            <pc:docMk/>
            <pc:sldMk cId="1555777624" sldId="2134805630"/>
            <ac:spMk id="2" creationId="{7F10827D-8980-2A91-41C1-1CDD99DAE82B}"/>
          </ac:spMkLst>
        </pc:spChg>
      </pc:sldChg>
      <pc:sldMasterChg chg="delSldLayout modSldLayout">
        <pc:chgData name="Sarat Puthenpura" userId="f80d37125cf9970a" providerId="LiveId" clId="{8DF0172B-B89F-4B4C-A92D-D2EFB6960A88}" dt="2026-02-10T22:25:08.510" v="177" actId="47"/>
        <pc:sldMasterMkLst>
          <pc:docMk/>
          <pc:sldMasterMk cId="0" sldId="2147483669"/>
        </pc:sldMasterMkLst>
        <pc:sldLayoutChg chg="modSp">
          <pc:chgData name="Sarat Puthenpura" userId="f80d37125cf9970a" providerId="LiveId" clId="{8DF0172B-B89F-4B4C-A92D-D2EFB6960A88}" dt="2026-02-10T22:15:20.459" v="11" actId="735"/>
          <pc:sldLayoutMkLst>
            <pc:docMk/>
            <pc:sldMasterMk cId="0" sldId="2147483669"/>
            <pc:sldLayoutMk cId="0" sldId="2147483648"/>
          </pc:sldLayoutMkLst>
        </pc:sldLayoutChg>
        <pc:sldLayoutChg chg="modSp 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49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0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1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2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3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4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5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6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7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58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62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63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64"/>
          </pc:sldLayoutMkLst>
        </pc:sldLayoutChg>
        <pc:sldLayoutChg chg="del">
          <pc:chgData name="Sarat Puthenpura" userId="f80d37125cf9970a" providerId="LiveId" clId="{8DF0172B-B89F-4B4C-A92D-D2EFB6960A88}" dt="2026-02-10T22:25:08.510" v="177" actId="47"/>
          <pc:sldLayoutMkLst>
            <pc:docMk/>
            <pc:sldMasterMk cId="0" sldId="2147483669"/>
            <pc:sldLayoutMk cId="0" sldId="2147483667"/>
          </pc:sldLayoutMkLst>
        </pc:sldLayoutChg>
        <pc:sldLayoutChg chg="modSp del">
          <pc:chgData name="Sarat Puthenpura" userId="f80d37125cf9970a" providerId="LiveId" clId="{8DF0172B-B89F-4B4C-A92D-D2EFB6960A88}" dt="2026-02-10T22:18:21.428" v="13" actId="47"/>
          <pc:sldLayoutMkLst>
            <pc:docMk/>
            <pc:sldMasterMk cId="0" sldId="2147483669"/>
            <pc:sldLayoutMk cId="754664684" sldId="2147483670"/>
          </pc:sldLayoutMkLst>
        </pc:sldLayoutChg>
        <pc:sldLayoutChg chg="del">
          <pc:chgData name="Sarat Puthenpura" userId="f80d37125cf9970a" providerId="LiveId" clId="{8DF0172B-B89F-4B4C-A92D-D2EFB6960A88}" dt="2026-02-10T22:18:21.428" v="13" actId="47"/>
          <pc:sldLayoutMkLst>
            <pc:docMk/>
            <pc:sldMasterMk cId="0" sldId="2147483669"/>
            <pc:sldLayoutMk cId="343215978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1FA5-8C65-804E-C775-98AD4FF5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AE356-CB95-58CB-8B04-040812EF8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DD189-0D76-2EA5-A0C2-DA093688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ECE5-0DB8-909A-FFCD-5573634AA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971C5-8267-4DEA-BA1F-F61A7E548E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494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01da4155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01da4155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ark" type="title">
  <p:cSld name="TITLE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300" y="774593"/>
            <a:ext cx="1404726" cy="4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 idx="2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Light">
  <p:cSld name="SECTION_HEADER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">
  <p:cSld name="SECTION_HEADER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1121550"/>
            <a:ext cx="4022700" cy="29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3D3E5B"/>
              </a:gs>
              <a:gs pos="100000">
                <a:srgbClr val="100F1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94FF"/>
              </a:solidFill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>
            <a:off x="4867700" y="1152475"/>
            <a:ext cx="396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 Image">
  <p:cSld name="TITLE_AND_TWO_COLUMNS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>
            <a:spLocks noGrp="1"/>
          </p:cNvSpPr>
          <p:nvPr>
            <p:ph type="pic" idx="2"/>
          </p:nvPr>
        </p:nvSpPr>
        <p:spPr>
          <a:xfrm>
            <a:off x="5188325" y="1165975"/>
            <a:ext cx="3389400" cy="3389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ight 1">
  <p:cSld name="TITLE_2_1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03825" y="2055060"/>
            <a:ext cx="3136350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A373-2790-716F-E968-7B49C04CE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E8BF7-1664-D3DD-30AB-B1355E45C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45D1-A236-AAAF-43B7-20D9A019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B797-D0AC-4782-B6C1-46398FAB787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46271-8FFB-1217-AED6-758E339E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FDE41-BF4B-352B-E189-86043180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0117C-C0A7-4F65-8B27-6BFC76FA4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BD3F-B263-A7AC-C490-87C772EA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0E52-D2D8-FEC7-7C6B-8FD1BFDFB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06F9A-BF2B-134D-99D3-A357BA8AE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B797-D0AC-4782-B6C1-46398FAB787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88615-B378-0ABD-DE5A-5C0CEDB3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58A5-0C7D-32A8-31D7-D68ACEB4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0117C-C0A7-4F65-8B27-6BFC76FA4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0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  <p:sldLayoutId id="2147483660" r:id="rId3"/>
    <p:sldLayoutId id="2147483661" r:id="rId4"/>
    <p:sldLayoutId id="2147483665" r:id="rId5"/>
    <p:sldLayoutId id="2147483666" r:id="rId6"/>
    <p:sldLayoutId id="2147483668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t@opennetworking.or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smos-lab.org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E6DE-D026-9124-D68E-6AADAE4B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Introducing OCUDU to  OTICS</a:t>
            </a:r>
            <a:br>
              <a:rPr lang="en-US" sz="3300" dirty="0"/>
            </a:br>
            <a:r>
              <a:rPr lang="en-US" sz="2400" dirty="0"/>
              <a:t>Feb 5, 2025</a:t>
            </a:r>
            <a:endParaRPr lang="en-US" sz="33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684391-B6EC-944F-25C6-67B07D8FC56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more information, contact </a:t>
            </a:r>
            <a:br>
              <a:rPr lang="en-US" dirty="0"/>
            </a:br>
            <a:r>
              <a:rPr lang="en-US" dirty="0"/>
              <a:t>Sarat Puthenpura (</a:t>
            </a:r>
            <a:r>
              <a:rPr lang="en-US" dirty="0">
                <a:hlinkClick r:id="rId2"/>
              </a:rPr>
              <a:t>sarat@opennetworking.org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84337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96C4-EEEE-3D0E-83A2-E77B2859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FC943-75D9-A93D-F48A-B94A0C5E3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OTIC (Open Testing and Integration Center) serves as a neutral, open facility to test, integrate, and validate O-RAN–based solutions from multiple vendors before large-scale commercial deployment.</a:t>
            </a:r>
          </a:p>
          <a:p>
            <a:r>
              <a:rPr lang="en-US" dirty="0"/>
              <a:t>An OTIC acts as the bridge between R&amp;D and real-world deployment, ensuring that open, multi-vendor RAN solutions are interoperable, secure, and deployment-ready</a:t>
            </a:r>
          </a:p>
          <a:p>
            <a:r>
              <a:rPr lang="en-US" dirty="0"/>
              <a:t>Strategy:</a:t>
            </a:r>
          </a:p>
          <a:p>
            <a:pPr lvl="1"/>
            <a:r>
              <a:rPr lang="en-US" dirty="0"/>
              <a:t>Start with COSMOS (Rutgers WINLAB) and expand to other OTICs </a:t>
            </a:r>
            <a:r>
              <a:rPr lang="en-US" dirty="0">
                <a:hlinkClick r:id="rId2"/>
              </a:rPr>
              <a:t>https://cosmos-lab.org/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903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BF8B-53AF-84D5-E672-83ACBE32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to start with COSMOS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A898-3F12-5AB4-5E7F-1D8AAC757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Long history of wireless networking R&amp;D - hosting Open RAN PoCs and plug fests since 2019</a:t>
            </a:r>
          </a:p>
          <a:p>
            <a:r>
              <a:rPr lang="en-US" dirty="0"/>
              <a:t>Extensive COSMOS city-scale indoor/outdoor testbed as part of NSF Platforms for Advanced Wireless Research program (with Columbia University and NYU) – including SDR, cloud networking, FCC innovation zone</a:t>
            </a:r>
          </a:p>
          <a:p>
            <a:r>
              <a:rPr lang="en-US" dirty="0"/>
              <a:t>COSMOS at Rutgers University WINLAB was established early on in Jan 2023 as the east coast North American OTIC</a:t>
            </a:r>
          </a:p>
          <a:p>
            <a:r>
              <a:rPr lang="en-US" dirty="0"/>
              <a:t>During 2025/2026, WINLAB established POET testbed for O-RAN energy and performance testing - leveraging open-source CU/DU/Core (e.g., srsRAN, OAI) and several commercial O-RUs</a:t>
            </a:r>
          </a:p>
          <a:p>
            <a:r>
              <a:rPr lang="en-US" dirty="0"/>
              <a:t>Since 2025/2026, WINLAB is also an O-RAN SC Test &amp; Integration site</a:t>
            </a:r>
          </a:p>
          <a:p>
            <a:pPr lvl="1"/>
            <a:r>
              <a:rPr lang="en-US" dirty="0"/>
              <a:t>Hosted open-source based energy savings demo shown at Feb 2026 O-RAN Rome meeting</a:t>
            </a:r>
          </a:p>
          <a:p>
            <a:r>
              <a:rPr lang="en-US" dirty="0"/>
              <a:t>Active collaboration with NTIA T&amp;E projects (ORCID, ACCoRD)</a:t>
            </a:r>
          </a:p>
          <a:p>
            <a:r>
              <a:rPr lang="en-US" dirty="0"/>
              <a:t>Strong wireless networking research and education program, open-source focus, as well as alignment with industry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37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F476-23B5-5734-188E-981571DB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4236"/>
            <a:ext cx="8520600" cy="572700"/>
          </a:xfrm>
        </p:spPr>
        <p:txBody>
          <a:bodyPr>
            <a:noAutofit/>
          </a:bodyPr>
          <a:lstStyle/>
          <a:p>
            <a:r>
              <a:rPr lang="en-US" sz="2400" dirty="0"/>
              <a:t>Steps involved in introducing OCUDU to OTIC</a:t>
            </a:r>
            <a:br>
              <a:rPr lang="en-US" sz="1800" dirty="0"/>
            </a:br>
            <a:r>
              <a:rPr lang="it-IT" sz="1800" dirty="0"/>
              <a:t>Prepare → Integrate → Validate → Iterate → Certify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8846-EF00-7904-95C2-87510AC21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</p:spPr>
        <p:txBody>
          <a:bodyPr>
            <a:normAutofit fontScale="25000" lnSpcReduction="20000"/>
          </a:bodyPr>
          <a:lstStyle/>
          <a:p>
            <a:endParaRPr lang="en-US" sz="700" dirty="0"/>
          </a:p>
          <a:p>
            <a:r>
              <a:rPr lang="en-US" sz="3600" dirty="0"/>
              <a:t>Define onboarding scope and objectives, for example:</a:t>
            </a:r>
          </a:p>
          <a:p>
            <a:pPr lvl="1"/>
            <a:r>
              <a:rPr lang="en-US" sz="3600" dirty="0"/>
              <a:t>Interoperability (RU ↔ DU, DU ↔ CU, CU ↔ RIC),  O-RAN compliance</a:t>
            </a:r>
          </a:p>
          <a:p>
            <a:pPr lvl="1"/>
            <a:r>
              <a:rPr lang="en-US" sz="3600" dirty="0"/>
              <a:t>Performance benchmarking, security, stability, and scale testing</a:t>
            </a:r>
          </a:p>
          <a:p>
            <a:r>
              <a:rPr lang="en-US" sz="3600" dirty="0"/>
              <a:t>Align with OTIC intake requirements, for example:</a:t>
            </a:r>
          </a:p>
          <a:p>
            <a:pPr lvl="1"/>
            <a:r>
              <a:rPr lang="en-US" sz="3600" dirty="0"/>
              <a:t>Hardware availability (x86/ARM servers, accelerators), Cloud stack (K8s version, OpenShift, VMware, bare metal), Transport and timing infrastructure (PTP, SyncE)</a:t>
            </a:r>
          </a:p>
          <a:p>
            <a:r>
              <a:rPr lang="en-US" sz="3600" dirty="0"/>
              <a:t>Prepare OCUDU software artifacts</a:t>
            </a:r>
          </a:p>
          <a:p>
            <a:pPr lvl="1"/>
            <a:r>
              <a:rPr lang="en-US" sz="3600" dirty="0"/>
              <a:t>Container images or VM images : O-CU-CP, O-CU-UP, O-DU,  Helm charts / deployment manifests</a:t>
            </a:r>
          </a:p>
          <a:p>
            <a:pPr lvl="1"/>
            <a:r>
              <a:rPr lang="en-US" sz="3600" dirty="0"/>
              <a:t>Configuration templates: F1-C / F1-U, E1, O1 (NETCONF/YANG), E2 (if Near-RT RIC is involved)</a:t>
            </a:r>
          </a:p>
          <a:p>
            <a:r>
              <a:rPr lang="en-US" sz="3600" dirty="0"/>
              <a:t>Interface readiness checklist</a:t>
            </a:r>
          </a:p>
          <a:p>
            <a:pPr lvl="1"/>
            <a:r>
              <a:rPr lang="en-US" sz="3600" dirty="0"/>
              <a:t>Ensure all mandatory interfaces are implemented and documented</a:t>
            </a:r>
          </a:p>
          <a:p>
            <a:r>
              <a:rPr lang="en-US" sz="3600" dirty="0"/>
              <a:t>Security and compliance preparation</a:t>
            </a:r>
          </a:p>
          <a:p>
            <a:pPr lvl="1"/>
            <a:r>
              <a:rPr lang="en-US" sz="3600" dirty="0"/>
              <a:t>Provide TLS certificates, Key management procedures, Role-based access control definitions</a:t>
            </a:r>
          </a:p>
          <a:p>
            <a:pPr lvl="1"/>
            <a:r>
              <a:rPr lang="en-US" sz="3600" dirty="0"/>
              <a:t>Align with O-RAN Security Architecture (WG11) and OTIC security baseline tests</a:t>
            </a:r>
          </a:p>
          <a:p>
            <a:r>
              <a:rPr lang="en-US" sz="3600" dirty="0"/>
              <a:t>Deploy OCUDU in OTIC environment</a:t>
            </a:r>
          </a:p>
          <a:p>
            <a:pPr lvl="1"/>
            <a:r>
              <a:rPr lang="en-US" sz="3600" dirty="0"/>
              <a:t>Install on OTIC-approved infrastructure: Bare metal with accelerators and/or Cloud-native Kubernetes platform</a:t>
            </a:r>
          </a:p>
          <a:p>
            <a:pPr lvl="1"/>
            <a:r>
              <a:rPr lang="en-US" sz="3600" dirty="0"/>
              <a:t>Integrate with OTIC SMO, Near-RT RIC (if applicable), Test RU(s) from one or more vendors</a:t>
            </a:r>
          </a:p>
          <a:p>
            <a:r>
              <a:rPr lang="en-US" sz="3600" dirty="0"/>
              <a:t>Bring-up the system and do sanity checks</a:t>
            </a:r>
          </a:p>
          <a:p>
            <a:pPr lvl="1"/>
            <a:r>
              <a:rPr lang="en-US" sz="3600" dirty="0"/>
              <a:t>Verify DU ↔ RU link up and timing lock, CU ↔ DU F1 setup, UE attach, registration, and data session</a:t>
            </a:r>
          </a:p>
          <a:p>
            <a:r>
              <a:rPr lang="en-US" sz="3600" dirty="0"/>
              <a:t>Execute OTIC test campaigns</a:t>
            </a:r>
          </a:p>
          <a:p>
            <a:pPr lvl="1"/>
            <a:r>
              <a:rPr lang="en-US" sz="3600" dirty="0"/>
              <a:t>Typical sequence : Conformance tests (O-RAN spec compliance);  Interoperability tests (Multi-vendor RU, RIC, SMO);  Performance tests (Throughput, latency, jitter); Stability and longevity tests (Soak tests, fault recovery); Security tests (Interface protection, failure scenarios)</a:t>
            </a:r>
          </a:p>
          <a:p>
            <a:r>
              <a:rPr lang="en-US" sz="3600" dirty="0"/>
              <a:t>Issue resolution and iteration</a:t>
            </a:r>
          </a:p>
          <a:p>
            <a:pPr lvl="1"/>
            <a:r>
              <a:rPr lang="en-US" sz="3600" dirty="0"/>
              <a:t>Debug interop issues jointly with OTIC and peer vendors, </a:t>
            </a:r>
          </a:p>
          <a:p>
            <a:pPr lvl="1"/>
            <a:r>
              <a:rPr lang="en-US" sz="3600" dirty="0"/>
              <a:t>Update configurations, software builds, interface behavior and re-run impacted test cases</a:t>
            </a:r>
          </a:p>
          <a:p>
            <a:r>
              <a:rPr lang="en-US" sz="3600" dirty="0"/>
              <a:t>Documentation and certification outcomes</a:t>
            </a:r>
          </a:p>
          <a:p>
            <a:pPr lvl="1"/>
            <a:r>
              <a:rPr lang="en-US" sz="3600" dirty="0"/>
              <a:t>Deliverables typically include OTIC test reports, Interop matrices, and performance benchmarks</a:t>
            </a:r>
          </a:p>
          <a:p>
            <a:pPr lvl="1"/>
            <a:r>
              <a:rPr lang="en-US" sz="3600" dirty="0"/>
              <a:t>Results may feed into operator procurement decisions, O-RAN Alliance feedback loops, standards bodies, pre-commercial or field trials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0927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DFF3-F46C-C22E-10B6-9F083913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Interface Readiness Checklist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254E8-8238-F983-715C-9E6034A7668C}"/>
              </a:ext>
            </a:extLst>
          </p:cNvPr>
          <p:cNvGraphicFramePr>
            <a:graphicFrameLocks noGrp="1"/>
          </p:cNvGraphicFramePr>
          <p:nvPr/>
        </p:nvGraphicFramePr>
        <p:xfrm>
          <a:off x="549753" y="1611630"/>
          <a:ext cx="7886700" cy="19964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86890875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52884864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Interface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Validation focus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3587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Open Fronthaul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/>
                        <a:t>DU–RU interoperability, timing, compression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109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F1-C / F1-U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CU–DU signaling and user plane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819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RIC connectivity, service models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983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Policy control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7487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O1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FCAPS via SMO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814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N2/N3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Core network connectivity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9003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</a:rPr>
                        <a:t>Xn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gNB-gNB interface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3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88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09E3-5363-014F-184B-12942808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3" y="55770"/>
            <a:ext cx="7886700" cy="455009"/>
          </a:xfrm>
        </p:spPr>
        <p:txBody>
          <a:bodyPr>
            <a:normAutofit fontScale="90000"/>
          </a:bodyPr>
          <a:lstStyle/>
          <a:p>
            <a:r>
              <a:rPr lang="en-US" dirty="0"/>
              <a:t>Who performs OTIC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43F1-FEDD-1A69-FA36-01AC480FD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36" y="679731"/>
            <a:ext cx="8800088" cy="384169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OTIC Host (primary test executor)</a:t>
            </a:r>
          </a:p>
          <a:p>
            <a:pPr lvl="1"/>
            <a:r>
              <a:rPr lang="en-US" dirty="0"/>
              <a:t>This is the neutral party that runs the lab and executes the tests</a:t>
            </a:r>
          </a:p>
          <a:p>
            <a:pPr lvl="1"/>
            <a:r>
              <a:rPr lang="en-US" dirty="0"/>
              <a:t>Their role: </a:t>
            </a:r>
          </a:p>
          <a:p>
            <a:pPr lvl="1"/>
            <a:r>
              <a:rPr lang="en-US" dirty="0"/>
              <a:t>Own and operate the test infrastructure</a:t>
            </a:r>
          </a:p>
          <a:p>
            <a:pPr lvl="1"/>
            <a:r>
              <a:rPr lang="en-US" dirty="0"/>
              <a:t>Define test procedures and acceptance criteria</a:t>
            </a:r>
          </a:p>
          <a:p>
            <a:pPr lvl="1"/>
            <a:r>
              <a:rPr lang="en-US" dirty="0"/>
              <a:t>Execute tests hands-on</a:t>
            </a:r>
          </a:p>
          <a:p>
            <a:pPr lvl="1"/>
            <a:r>
              <a:rPr lang="en-US" dirty="0"/>
              <a:t>Collect logs, KPIs, and metrics</a:t>
            </a:r>
          </a:p>
          <a:p>
            <a:pPr lvl="1"/>
            <a:r>
              <a:rPr lang="en-US" dirty="0"/>
              <a:t>Produce official OTIC artifacts (interop matrices, reports)</a:t>
            </a:r>
          </a:p>
          <a:p>
            <a:pPr lvl="2"/>
            <a:r>
              <a:rPr lang="en-US" dirty="0"/>
              <a:t> Their neutrality is the entire point of an OTIC</a:t>
            </a:r>
          </a:p>
          <a:p>
            <a:r>
              <a:rPr lang="en-US" dirty="0"/>
              <a:t>Vendor engineering teams (supporting role)</a:t>
            </a:r>
          </a:p>
          <a:p>
            <a:pPr lvl="1"/>
            <a:r>
              <a:rPr lang="en-US" dirty="0"/>
              <a:t>Vendors whose O-CU / O-DU / RU is under test do not “run” the OTIC tests, but they are involved</a:t>
            </a:r>
          </a:p>
          <a:p>
            <a:pPr lvl="1"/>
            <a:r>
              <a:rPr lang="en-US" dirty="0"/>
              <a:t>Provide deployable software/images, supply configuration documentation, answer clarification questions, fix bugs discovered during testing and validate reproduction of issues</a:t>
            </a:r>
          </a:p>
          <a:p>
            <a:pPr lvl="1"/>
            <a:r>
              <a:rPr lang="en-US" dirty="0"/>
              <a:t>What vendors do not do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Decide pass/fail, modify test criteria mid-run, control test execution, or publish the final conclusions</a:t>
            </a:r>
          </a:p>
          <a:p>
            <a:pPr lvl="2"/>
            <a:r>
              <a:rPr lang="en-US" dirty="0"/>
              <a:t>This separation is critical for credibility</a:t>
            </a:r>
          </a:p>
          <a:p>
            <a:r>
              <a:rPr lang="en-US" dirty="0"/>
              <a:t>Operators / enterprises (requirements and validation role)</a:t>
            </a:r>
          </a:p>
          <a:p>
            <a:pPr lvl="1"/>
            <a:r>
              <a:rPr lang="en-US" dirty="0"/>
              <a:t>They typically define real-world use cases, review test plans for relevance, observe selected tests, validate that results answer procurement questions, consume OTIC outputs for deployment decisions</a:t>
            </a:r>
          </a:p>
          <a:p>
            <a:pPr lvl="1"/>
            <a:r>
              <a:rPr lang="en-US" dirty="0"/>
              <a:t>They usually do not run the tests  </a:t>
            </a:r>
          </a:p>
          <a:p>
            <a:r>
              <a:rPr lang="en-US" dirty="0"/>
              <a:t>Standards bodies (indirect, not hands-on)</a:t>
            </a:r>
          </a:p>
          <a:p>
            <a:pPr lvl="1"/>
            <a:r>
              <a:rPr lang="en-US" dirty="0"/>
              <a:t>Organizations like the O-RAN Alliance and 3GPP, define specifications, publish test specifications and profiles, accredit or recognize OTICs (e.g. O-RAN) 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8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F176-AA33-08E5-0F2F-49F5D0AB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“Who touches the keyboard”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36B2C-5695-2C20-AD0B-38C297110671}"/>
              </a:ext>
            </a:extLst>
          </p:cNvPr>
          <p:cNvSpPr/>
          <p:nvPr/>
        </p:nvSpPr>
        <p:spPr>
          <a:xfrm>
            <a:off x="2700718" y="1177186"/>
            <a:ext cx="2542922" cy="994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A0BBC-4972-3D0B-D7EC-87EDFE727B46}"/>
              </a:ext>
            </a:extLst>
          </p:cNvPr>
          <p:cNvSpPr txBox="1"/>
          <p:nvPr/>
        </p:nvSpPr>
        <p:spPr>
          <a:xfrm>
            <a:off x="2893409" y="1317366"/>
            <a:ext cx="45730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OTIC Engineers / Lab Staff            ← RUN the tests</a:t>
            </a:r>
          </a:p>
          <a:p>
            <a:r>
              <a:rPr lang="en-US" sz="1050" dirty="0"/>
              <a:t> (neutral host organization)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69826-2085-C43B-9AE3-4F2252244376}"/>
              </a:ext>
            </a:extLst>
          </p:cNvPr>
          <p:cNvSpPr/>
          <p:nvPr/>
        </p:nvSpPr>
        <p:spPr>
          <a:xfrm>
            <a:off x="2700717" y="2523499"/>
            <a:ext cx="2542922" cy="994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39492-1D35-199A-64E8-FD727628024A}"/>
              </a:ext>
            </a:extLst>
          </p:cNvPr>
          <p:cNvSpPr txBox="1"/>
          <p:nvPr/>
        </p:nvSpPr>
        <p:spPr>
          <a:xfrm>
            <a:off x="2893409" y="2778209"/>
            <a:ext cx="45730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Vendors                                                    ← Support &amp; Fix </a:t>
            </a:r>
          </a:p>
          <a:p>
            <a:r>
              <a:rPr lang="en-US" sz="1050" dirty="0"/>
              <a:t>(CU / DU / RU)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07EE5F-438C-508E-0EAA-71FEB66BCF23}"/>
              </a:ext>
            </a:extLst>
          </p:cNvPr>
          <p:cNvSpPr/>
          <p:nvPr/>
        </p:nvSpPr>
        <p:spPr>
          <a:xfrm>
            <a:off x="2700717" y="3869809"/>
            <a:ext cx="2542922" cy="994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06F76-A6CC-7049-4EA7-5425F73E3A27}"/>
              </a:ext>
            </a:extLst>
          </p:cNvPr>
          <p:cNvSpPr txBox="1"/>
          <p:nvPr/>
        </p:nvSpPr>
        <p:spPr>
          <a:xfrm>
            <a:off x="2832718" y="4098892"/>
            <a:ext cx="556074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End users</a:t>
            </a:r>
          </a:p>
          <a:p>
            <a:r>
              <a:rPr lang="en-US" sz="1050" dirty="0"/>
              <a:t>(Operators / Gov / Enterprises)        ← Define needs, consume results       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6DDBBD-D623-22A0-ED5B-B1A827DDF8A6}"/>
              </a:ext>
            </a:extLst>
          </p:cNvPr>
          <p:cNvCxnSpPr>
            <a:stCxn id="3" idx="2"/>
            <a:endCxn id="6" idx="0"/>
          </p:cNvCxnSpPr>
          <p:nvPr/>
        </p:nvCxnSpPr>
        <p:spPr>
          <a:xfrm flipH="1">
            <a:off x="3972178" y="2171358"/>
            <a:ext cx="1" cy="3521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24C1CD-2DF5-195B-9187-EDDE022F855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77440" y="1674272"/>
            <a:ext cx="323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30AEF2-9598-7971-71BF-1EBB0753AEBC}"/>
              </a:ext>
            </a:extLst>
          </p:cNvPr>
          <p:cNvCxnSpPr>
            <a:cxnSpLocks/>
          </p:cNvCxnSpPr>
          <p:nvPr/>
        </p:nvCxnSpPr>
        <p:spPr>
          <a:xfrm>
            <a:off x="2377439" y="4433801"/>
            <a:ext cx="323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CCE0D1-653C-88F7-37BD-03C928366DB5}"/>
              </a:ext>
            </a:extLst>
          </p:cNvPr>
          <p:cNvCxnSpPr>
            <a:cxnSpLocks/>
          </p:cNvCxnSpPr>
          <p:nvPr/>
        </p:nvCxnSpPr>
        <p:spPr>
          <a:xfrm>
            <a:off x="2377439" y="1674272"/>
            <a:ext cx="0" cy="2759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085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BB7E-C1A5-55CD-15D8-22B76CA8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Immediate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243A-B935-1F41-9607-C5676DA33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scope</a:t>
            </a:r>
          </a:p>
          <a:p>
            <a:r>
              <a:rPr lang="en-US" dirty="0"/>
              <a:t>Align with OTIC – COSMOS (Rutgers WINLAB)</a:t>
            </a:r>
          </a:p>
          <a:p>
            <a:r>
              <a:rPr lang="en-US" dirty="0"/>
              <a:t>Create and execute SoW between LFN and WINLAB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4645-1563-F5FE-3021-0BDFBA53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BACKUP INFO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41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D7FB-83CE-9BFD-8B03-5E6A33CB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6997-65BE-C8F6-892F-111AA3D0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1" y="73564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/>
              <a:t>POET: Platform for O-RAN Energy Efficiency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E9080-3311-4D9D-2B37-9DDE3B589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02" y="1532715"/>
            <a:ext cx="1423769" cy="590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A6BD2E-AAF2-F7FD-AD6A-271786EF9024}"/>
              </a:ext>
            </a:extLst>
          </p:cNvPr>
          <p:cNvSpPr/>
          <p:nvPr/>
        </p:nvSpPr>
        <p:spPr bwMode="auto">
          <a:xfrm>
            <a:off x="8083907" y="1496757"/>
            <a:ext cx="778567" cy="505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UE</a:t>
            </a:r>
            <a:b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(Phone)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DD8130-A02D-99D8-6668-719DC97942F6}"/>
              </a:ext>
            </a:extLst>
          </p:cNvPr>
          <p:cNvSpPr/>
          <p:nvPr/>
        </p:nvSpPr>
        <p:spPr bwMode="auto">
          <a:xfrm>
            <a:off x="3359906" y="1944301"/>
            <a:ext cx="579120" cy="265226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Core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42570C-D555-7C04-9674-AC72F7FF5B0D}"/>
              </a:ext>
            </a:extLst>
          </p:cNvPr>
          <p:cNvSpPr/>
          <p:nvPr/>
        </p:nvSpPr>
        <p:spPr bwMode="auto">
          <a:xfrm>
            <a:off x="4170008" y="1930865"/>
            <a:ext cx="480060" cy="29210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CU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51CAC3-4309-5851-6636-E9BB97BF31A1}"/>
              </a:ext>
            </a:extLst>
          </p:cNvPr>
          <p:cNvSpPr/>
          <p:nvPr/>
        </p:nvSpPr>
        <p:spPr bwMode="auto">
          <a:xfrm>
            <a:off x="4901528" y="1930865"/>
            <a:ext cx="480060" cy="29210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DU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DAA8836-651A-092E-5BD6-374441502AD4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 bwMode="auto">
          <a:xfrm>
            <a:off x="3939027" y="2076914"/>
            <a:ext cx="2309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59EF3F-2D9A-FFAC-19D7-CBB1E4A52C4D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 bwMode="auto">
          <a:xfrm>
            <a:off x="4650068" y="2076914"/>
            <a:ext cx="2514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0D06E99-CD44-4C9D-7AC1-5ABDEF866AE0}"/>
              </a:ext>
            </a:extLst>
          </p:cNvPr>
          <p:cNvSpPr/>
          <p:nvPr/>
        </p:nvSpPr>
        <p:spPr bwMode="auto">
          <a:xfrm>
            <a:off x="3535473" y="953878"/>
            <a:ext cx="1908333" cy="47194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SMO/OAM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(OFH-MP controller)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F7A221-3E6B-DFE8-3AA6-AB713AFF4A6C}"/>
              </a:ext>
            </a:extLst>
          </p:cNvPr>
          <p:cNvSpPr/>
          <p:nvPr/>
        </p:nvSpPr>
        <p:spPr bwMode="auto">
          <a:xfrm>
            <a:off x="5545708" y="2428473"/>
            <a:ext cx="679994" cy="691025"/>
          </a:xfrm>
          <a:custGeom>
            <a:avLst/>
            <a:gdLst>
              <a:gd name="connsiteX0" fmla="*/ 0 w 964514"/>
              <a:gd name="connsiteY0" fmla="*/ 0 h 1657995"/>
              <a:gd name="connsiteX1" fmla="*/ 964514 w 964514"/>
              <a:gd name="connsiteY1" fmla="*/ 0 h 1657995"/>
              <a:gd name="connsiteX2" fmla="*/ 964514 w 964514"/>
              <a:gd name="connsiteY2" fmla="*/ 1657995 h 1657995"/>
              <a:gd name="connsiteX3" fmla="*/ 0 w 964514"/>
              <a:gd name="connsiteY3" fmla="*/ 1657995 h 1657995"/>
              <a:gd name="connsiteX4" fmla="*/ 0 w 964514"/>
              <a:gd name="connsiteY4" fmla="*/ 0 h 1657995"/>
              <a:gd name="connsiteX0" fmla="*/ 4872 w 969386"/>
              <a:gd name="connsiteY0" fmla="*/ 0 h 1657995"/>
              <a:gd name="connsiteX1" fmla="*/ 969386 w 969386"/>
              <a:gd name="connsiteY1" fmla="*/ 0 h 1657995"/>
              <a:gd name="connsiteX2" fmla="*/ 969386 w 969386"/>
              <a:gd name="connsiteY2" fmla="*/ 1657995 h 1657995"/>
              <a:gd name="connsiteX3" fmla="*/ 4872 w 969386"/>
              <a:gd name="connsiteY3" fmla="*/ 1657995 h 1657995"/>
              <a:gd name="connsiteX4" fmla="*/ 0 w 969386"/>
              <a:gd name="connsiteY4" fmla="*/ 440741 h 1657995"/>
              <a:gd name="connsiteX5" fmla="*/ 4872 w 969386"/>
              <a:gd name="connsiteY5" fmla="*/ 0 h 1657995"/>
              <a:gd name="connsiteX0" fmla="*/ 4872 w 969386"/>
              <a:gd name="connsiteY0" fmla="*/ 0 h 1657995"/>
              <a:gd name="connsiteX1" fmla="*/ 969386 w 969386"/>
              <a:gd name="connsiteY1" fmla="*/ 0 h 1657995"/>
              <a:gd name="connsiteX2" fmla="*/ 969386 w 969386"/>
              <a:gd name="connsiteY2" fmla="*/ 1657995 h 1657995"/>
              <a:gd name="connsiteX3" fmla="*/ 4872 w 969386"/>
              <a:gd name="connsiteY3" fmla="*/ 1657995 h 1657995"/>
              <a:gd name="connsiteX4" fmla="*/ 0 w 969386"/>
              <a:gd name="connsiteY4" fmla="*/ 1172261 h 1657995"/>
              <a:gd name="connsiteX5" fmla="*/ 0 w 969386"/>
              <a:gd name="connsiteY5" fmla="*/ 440741 h 1657995"/>
              <a:gd name="connsiteX6" fmla="*/ 4872 w 969386"/>
              <a:gd name="connsiteY6" fmla="*/ 0 h 16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9386" h="1657995">
                <a:moveTo>
                  <a:pt x="4872" y="0"/>
                </a:moveTo>
                <a:lnTo>
                  <a:pt x="969386" y="0"/>
                </a:lnTo>
                <a:lnTo>
                  <a:pt x="969386" y="1657995"/>
                </a:lnTo>
                <a:lnTo>
                  <a:pt x="4872" y="1657995"/>
                </a:lnTo>
                <a:lnTo>
                  <a:pt x="0" y="1172261"/>
                </a:lnTo>
                <a:lnTo>
                  <a:pt x="0" y="440741"/>
                </a:lnTo>
                <a:lnTo>
                  <a:pt x="4872" y="0"/>
                </a:lnTo>
                <a:close/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b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PTP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b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GM</a:t>
            </a:r>
            <a:br>
              <a:rPr lang="en-US" sz="1051" b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b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Switch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D66B40-B707-A60A-076C-0DF26BD53F69}"/>
              </a:ext>
            </a:extLst>
          </p:cNvPr>
          <p:cNvSpPr/>
          <p:nvPr/>
        </p:nvSpPr>
        <p:spPr bwMode="auto">
          <a:xfrm>
            <a:off x="6543139" y="2043355"/>
            <a:ext cx="630352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RU-1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243633B-5CB5-6FF3-C59C-8D863B1984BB}"/>
              </a:ext>
            </a:extLst>
          </p:cNvPr>
          <p:cNvSpPr/>
          <p:nvPr/>
        </p:nvSpPr>
        <p:spPr bwMode="auto">
          <a:xfrm>
            <a:off x="6543139" y="2466117"/>
            <a:ext cx="630352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RU-2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8D112C-A989-BE7E-BF71-3435EB2CFCBC}"/>
              </a:ext>
            </a:extLst>
          </p:cNvPr>
          <p:cNvSpPr/>
          <p:nvPr/>
        </p:nvSpPr>
        <p:spPr bwMode="auto">
          <a:xfrm>
            <a:off x="6549489" y="3147715"/>
            <a:ext cx="630352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RU-N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C7CF06-E74B-FCF6-AD18-A68523841441}"/>
              </a:ext>
            </a:extLst>
          </p:cNvPr>
          <p:cNvSpPr/>
          <p:nvPr/>
        </p:nvSpPr>
        <p:spPr bwMode="auto">
          <a:xfrm>
            <a:off x="8083908" y="849488"/>
            <a:ext cx="927350" cy="5307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UE-Emulator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7512FBE-4501-5964-8A21-0331755EAA00}"/>
              </a:ext>
            </a:extLst>
          </p:cNvPr>
          <p:cNvSpPr/>
          <p:nvPr/>
        </p:nvSpPr>
        <p:spPr bwMode="auto">
          <a:xfrm>
            <a:off x="8083908" y="2119061"/>
            <a:ext cx="846847" cy="505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UE (Modem)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25AFF45-2D47-9233-9B58-C0DA38F5DDDE}"/>
              </a:ext>
            </a:extLst>
          </p:cNvPr>
          <p:cNvSpPr/>
          <p:nvPr/>
        </p:nvSpPr>
        <p:spPr bwMode="auto">
          <a:xfrm>
            <a:off x="499108" y="998174"/>
            <a:ext cx="1317470" cy="5104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Grafana</a:t>
            </a:r>
            <a:b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349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Dashboards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107BA82-0BF2-9588-AAE5-00073E7510E0}"/>
              </a:ext>
            </a:extLst>
          </p:cNvPr>
          <p:cNvSpPr/>
          <p:nvPr/>
        </p:nvSpPr>
        <p:spPr bwMode="auto">
          <a:xfrm>
            <a:off x="338326" y="2844392"/>
            <a:ext cx="1200986" cy="4226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Prometheus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DB</a:t>
            </a:r>
          </a:p>
        </p:txBody>
      </p:sp>
      <p:sp>
        <p:nvSpPr>
          <p:cNvPr id="70" name="Flowchart: Magnetic Disk 69">
            <a:extLst>
              <a:ext uri="{FF2B5EF4-FFF2-40B4-BE49-F238E27FC236}">
                <a16:creationId xmlns:a16="http://schemas.microsoft.com/office/drawing/2014/main" id="{969E1445-62E7-14B8-9EBE-FC5C5242FBAD}"/>
              </a:ext>
            </a:extLst>
          </p:cNvPr>
          <p:cNvSpPr/>
          <p:nvPr/>
        </p:nvSpPr>
        <p:spPr bwMode="auto">
          <a:xfrm>
            <a:off x="1440708" y="2901703"/>
            <a:ext cx="324945" cy="394601"/>
          </a:xfrm>
          <a:prstGeom prst="flowChartMagneticDisk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49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</p:txBody>
      </p:sp>
      <p:sp>
        <p:nvSpPr>
          <p:cNvPr id="72" name="Flowchart: Magnetic Disk 71">
            <a:extLst>
              <a:ext uri="{FF2B5EF4-FFF2-40B4-BE49-F238E27FC236}">
                <a16:creationId xmlns:a16="http://schemas.microsoft.com/office/drawing/2014/main" id="{EDCA6E86-F73A-249C-7ACD-B7D68D4F3B79}"/>
              </a:ext>
            </a:extLst>
          </p:cNvPr>
          <p:cNvSpPr/>
          <p:nvPr/>
        </p:nvSpPr>
        <p:spPr bwMode="auto">
          <a:xfrm>
            <a:off x="841863" y="3400340"/>
            <a:ext cx="324945" cy="394601"/>
          </a:xfrm>
          <a:prstGeom prst="flowChartMagneticDisk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49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D6753DD-2EF1-2154-B728-847E69432E46}"/>
              </a:ext>
            </a:extLst>
          </p:cNvPr>
          <p:cNvSpPr/>
          <p:nvPr/>
        </p:nvSpPr>
        <p:spPr bwMode="auto">
          <a:xfrm>
            <a:off x="360151" y="3778736"/>
            <a:ext cx="1243031" cy="48287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MongoDB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(Offline data)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471663A-73CB-67EE-1177-56F18C854B4F}"/>
              </a:ext>
            </a:extLst>
          </p:cNvPr>
          <p:cNvCxnSpPr>
            <a:cxnSpLocks/>
            <a:endCxn id="46" idx="1"/>
          </p:cNvCxnSpPr>
          <p:nvPr/>
        </p:nvCxnSpPr>
        <p:spPr bwMode="auto">
          <a:xfrm flipV="1">
            <a:off x="6228940" y="2189405"/>
            <a:ext cx="314199" cy="3776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1F1EA8D-1008-732C-8F9E-5F3305F2B34E}"/>
              </a:ext>
            </a:extLst>
          </p:cNvPr>
          <p:cNvCxnSpPr>
            <a:cxnSpLocks/>
            <a:endCxn id="57" idx="1"/>
          </p:cNvCxnSpPr>
          <p:nvPr/>
        </p:nvCxnSpPr>
        <p:spPr bwMode="auto">
          <a:xfrm flipV="1">
            <a:off x="6228940" y="2612166"/>
            <a:ext cx="314199" cy="161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F727295-751D-57D9-0AC7-C2FAEC21C695}"/>
              </a:ext>
            </a:extLst>
          </p:cNvPr>
          <p:cNvCxnSpPr>
            <a:cxnSpLocks/>
            <a:endCxn id="60" idx="1"/>
          </p:cNvCxnSpPr>
          <p:nvPr/>
        </p:nvCxnSpPr>
        <p:spPr bwMode="auto">
          <a:xfrm>
            <a:off x="6245061" y="3060770"/>
            <a:ext cx="304429" cy="232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F65DF102-D1BC-D73D-9F8B-F13FDB999479}"/>
              </a:ext>
            </a:extLst>
          </p:cNvPr>
          <p:cNvSpPr/>
          <p:nvPr/>
        </p:nvSpPr>
        <p:spPr bwMode="auto">
          <a:xfrm>
            <a:off x="6819009" y="2854588"/>
            <a:ext cx="34289" cy="3428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49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03B5E91-0B60-D9CE-C73A-A4523E1F1896}"/>
              </a:ext>
            </a:extLst>
          </p:cNvPr>
          <p:cNvSpPr/>
          <p:nvPr/>
        </p:nvSpPr>
        <p:spPr bwMode="auto">
          <a:xfrm>
            <a:off x="6819009" y="2999865"/>
            <a:ext cx="34289" cy="3428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49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74C63994-4F7C-6728-5A13-5C1A01EC2B31}"/>
              </a:ext>
            </a:extLst>
          </p:cNvPr>
          <p:cNvCxnSpPr>
            <a:cxnSpLocks/>
            <a:stCxn id="6" idx="3"/>
            <a:endCxn id="45" idx="4"/>
          </p:cNvCxnSpPr>
          <p:nvPr/>
        </p:nvCxnSpPr>
        <p:spPr bwMode="auto">
          <a:xfrm flipV="1">
            <a:off x="5158338" y="2917051"/>
            <a:ext cx="387371" cy="401102"/>
          </a:xfrm>
          <a:prstGeom prst="bentConnector3">
            <a:avLst>
              <a:gd name="adj1" fmla="val 5862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7608477-B203-4570-6AAB-16EA0E24F0F7}"/>
              </a:ext>
            </a:extLst>
          </p:cNvPr>
          <p:cNvCxnSpPr>
            <a:cxnSpLocks/>
            <a:stCxn id="33" idx="2"/>
            <a:endCxn id="45" idx="5"/>
          </p:cNvCxnSpPr>
          <p:nvPr/>
        </p:nvCxnSpPr>
        <p:spPr bwMode="auto">
          <a:xfrm rot="16200000" flipH="1">
            <a:off x="5149032" y="2215490"/>
            <a:ext cx="389203" cy="404152"/>
          </a:xfrm>
          <a:prstGeom prst="bentConnector4">
            <a:avLst>
              <a:gd name="adj1" fmla="val 26401"/>
              <a:gd name="adj2" fmla="val 18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EE4778E-A18F-2BBD-6C41-24A81BE7D7D3}"/>
              </a:ext>
            </a:extLst>
          </p:cNvPr>
          <p:cNvSpPr/>
          <p:nvPr/>
        </p:nvSpPr>
        <p:spPr bwMode="auto">
          <a:xfrm>
            <a:off x="2004188" y="835235"/>
            <a:ext cx="1085630" cy="3167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u="sng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Automated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u="sng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Data Collection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51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PDU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power KPI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(all physical equipment)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endParaRPr lang="en-US" sz="1051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IPMI/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Redfish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power KPI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(all servers)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51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Kepler/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Scaphandre</a:t>
            </a:r>
            <a:b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power KPI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(VNF/CNF)  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C624583-8CC5-7EBD-14BF-CF9557100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8" y="2183923"/>
            <a:ext cx="1423769" cy="5107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E253E-2F65-10E9-56B4-67D8003ACB67}"/>
              </a:ext>
            </a:extLst>
          </p:cNvPr>
          <p:cNvSpPr/>
          <p:nvPr/>
        </p:nvSpPr>
        <p:spPr bwMode="auto">
          <a:xfrm>
            <a:off x="5785740" y="1380235"/>
            <a:ext cx="1796933" cy="2652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i="1" u="sng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End-to-end testing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B0984-80FA-B62F-18FB-C98A5A8E2D96}"/>
              </a:ext>
            </a:extLst>
          </p:cNvPr>
          <p:cNvSpPr/>
          <p:nvPr/>
        </p:nvSpPr>
        <p:spPr bwMode="auto">
          <a:xfrm>
            <a:off x="3771045" y="3173608"/>
            <a:ext cx="1387293" cy="2890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FF0000"/>
                </a:solidFill>
                <a:latin typeface="Verdana" pitchFamily="34" charset="0"/>
                <a:ea typeface="+mn-ea"/>
              </a:rPr>
              <a:t>DU Emulator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DA16A-B495-7DFB-C3F9-E71BB353AE09}"/>
              </a:ext>
            </a:extLst>
          </p:cNvPr>
          <p:cNvSpPr/>
          <p:nvPr/>
        </p:nvSpPr>
        <p:spPr bwMode="auto">
          <a:xfrm>
            <a:off x="5851399" y="4106024"/>
            <a:ext cx="1171783" cy="4221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b="1" kern="1200" dirty="0">
                <a:solidFill>
                  <a:srgbClr val="FF0000"/>
                </a:solidFill>
                <a:latin typeface="Verdana" pitchFamily="34" charset="0"/>
                <a:ea typeface="+mn-ea"/>
              </a:rPr>
              <a:t>DC Power Supply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BA9CA6-EA44-6EE4-A046-CA732EF416E7}"/>
              </a:ext>
            </a:extLst>
          </p:cNvPr>
          <p:cNvSpPr/>
          <p:nvPr/>
        </p:nvSpPr>
        <p:spPr bwMode="auto">
          <a:xfrm>
            <a:off x="5283003" y="3577746"/>
            <a:ext cx="1891873" cy="29146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i="1" u="sng" kern="1200" dirty="0">
                <a:solidFill>
                  <a:srgbClr val="FF0000"/>
                </a:solidFill>
                <a:latin typeface="Verdana" pitchFamily="34" charset="0"/>
                <a:ea typeface="+mn-ea"/>
              </a:rPr>
              <a:t>Emulated testing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148C0-0896-A32F-B8CA-1DDFE1A9CD9A}"/>
              </a:ext>
            </a:extLst>
          </p:cNvPr>
          <p:cNvSpPr/>
          <p:nvPr/>
        </p:nvSpPr>
        <p:spPr bwMode="auto">
          <a:xfrm>
            <a:off x="3663482" y="3846633"/>
            <a:ext cx="1614251" cy="4221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FF0000"/>
                </a:solidFill>
                <a:latin typeface="Verdana" pitchFamily="34" charset="0"/>
                <a:ea typeface="+mn-ea"/>
              </a:rPr>
              <a:t>Vector</a:t>
            </a: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200" kern="1200" dirty="0">
                <a:solidFill>
                  <a:srgbClr val="FF0000"/>
                </a:solidFill>
                <a:latin typeface="Verdana" pitchFamily="34" charset="0"/>
                <a:ea typeface="+mn-ea"/>
              </a:rPr>
              <a:t>Signal Analyzer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E31E6E-04EE-DF90-3E5E-DAD4F8760C00}"/>
              </a:ext>
            </a:extLst>
          </p:cNvPr>
          <p:cNvSpPr/>
          <p:nvPr/>
        </p:nvSpPr>
        <p:spPr bwMode="auto">
          <a:xfrm>
            <a:off x="3535473" y="1653706"/>
            <a:ext cx="1795192" cy="292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OAI, srsRAN, Amarisoft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312BCBC-AAAD-AEDF-67F7-3FA4E1BD2B56}"/>
              </a:ext>
            </a:extLst>
          </p:cNvPr>
          <p:cNvCxnSpPr>
            <a:cxnSpLocks/>
            <a:stCxn id="39" idx="3"/>
          </p:cNvCxnSpPr>
          <p:nvPr/>
        </p:nvCxnSpPr>
        <p:spPr bwMode="auto">
          <a:xfrm>
            <a:off x="5443806" y="1189849"/>
            <a:ext cx="341933" cy="123862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E4C7043-ABB1-1DD9-33BE-B5DB11C6562E}"/>
              </a:ext>
            </a:extLst>
          </p:cNvPr>
          <p:cNvSpPr/>
          <p:nvPr/>
        </p:nvSpPr>
        <p:spPr bwMode="auto">
          <a:xfrm>
            <a:off x="7126385" y="4113538"/>
            <a:ext cx="539013" cy="4070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b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PDUs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9388813-78E9-A28F-D660-B4A14757DBAB}"/>
              </a:ext>
            </a:extLst>
          </p:cNvPr>
          <p:cNvCxnSpPr>
            <a:cxnSpLocks/>
            <a:endCxn id="26" idx="3"/>
          </p:cNvCxnSpPr>
          <p:nvPr/>
        </p:nvCxnSpPr>
        <p:spPr bwMode="auto">
          <a:xfrm rot="10800000" flipV="1">
            <a:off x="5277733" y="3723971"/>
            <a:ext cx="2431898" cy="333712"/>
          </a:xfrm>
          <a:prstGeom prst="bentConnector3">
            <a:avLst>
              <a:gd name="adj1" fmla="val -8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F8A9CB0-837E-9E49-CE2B-17EE581B2946}"/>
              </a:ext>
            </a:extLst>
          </p:cNvPr>
          <p:cNvSpPr/>
          <p:nvPr/>
        </p:nvSpPr>
        <p:spPr bwMode="auto">
          <a:xfrm>
            <a:off x="7518534" y="3070146"/>
            <a:ext cx="725399" cy="42886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825" kern="1200" dirty="0">
              <a:solidFill>
                <a:prstClr val="black"/>
              </a:solidFill>
              <a:latin typeface="Verdana" pitchFamily="34" charset="0"/>
              <a:ea typeface="+mn-ea"/>
            </a:endParaRPr>
          </a:p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825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switch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4D830B2-AFAB-8003-42E5-76AF908459D1}"/>
              </a:ext>
            </a:extLst>
          </p:cNvPr>
          <p:cNvCxnSpPr/>
          <p:nvPr/>
        </p:nvCxnSpPr>
        <p:spPr bwMode="auto">
          <a:xfrm>
            <a:off x="7673747" y="2900474"/>
            <a:ext cx="0" cy="169673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7FADC4D-EFE5-EC4E-E919-57CFD497E416}"/>
              </a:ext>
            </a:extLst>
          </p:cNvPr>
          <p:cNvCxnSpPr/>
          <p:nvPr/>
        </p:nvCxnSpPr>
        <p:spPr bwMode="auto">
          <a:xfrm>
            <a:off x="7823253" y="3504865"/>
            <a:ext cx="0" cy="1696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426C3F6-1D30-80EE-CC44-210891159FD3}"/>
              </a:ext>
            </a:extLst>
          </p:cNvPr>
          <p:cNvCxnSpPr/>
          <p:nvPr/>
        </p:nvCxnSpPr>
        <p:spPr bwMode="auto">
          <a:xfrm>
            <a:off x="7934895" y="3504865"/>
            <a:ext cx="0" cy="1696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781C917-BFA1-8053-F03C-8283C0A34236}"/>
              </a:ext>
            </a:extLst>
          </p:cNvPr>
          <p:cNvCxnSpPr/>
          <p:nvPr/>
        </p:nvCxnSpPr>
        <p:spPr bwMode="auto">
          <a:xfrm>
            <a:off x="8046537" y="3504865"/>
            <a:ext cx="0" cy="1696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7DDE5AD-0778-ED7C-00E8-352BDA9F2FA1}"/>
              </a:ext>
            </a:extLst>
          </p:cNvPr>
          <p:cNvCxnSpPr/>
          <p:nvPr/>
        </p:nvCxnSpPr>
        <p:spPr bwMode="auto">
          <a:xfrm>
            <a:off x="7709631" y="3492843"/>
            <a:ext cx="0" cy="1696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FEF888B-0F3A-8281-849D-FF4BA0C4B5A7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0758" y="3153899"/>
            <a:ext cx="13777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877395A-09B6-9E51-ACFB-09EF212099F9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0758" y="3239243"/>
            <a:ext cx="13777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CD2D707-81EE-51BE-130F-7DC0B2258071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0758" y="3317934"/>
            <a:ext cx="13777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300366E-0ACD-30FF-4A8B-F20D4325B95E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0758" y="3386803"/>
            <a:ext cx="13777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BA376A2-755F-1A18-D40F-C8E9BFA90990}"/>
              </a:ext>
            </a:extLst>
          </p:cNvPr>
          <p:cNvCxnSpPr/>
          <p:nvPr/>
        </p:nvCxnSpPr>
        <p:spPr bwMode="auto">
          <a:xfrm>
            <a:off x="7877509" y="2897612"/>
            <a:ext cx="0" cy="169673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F886007-F4BA-C6BE-C136-18A7C77E75D1}"/>
              </a:ext>
            </a:extLst>
          </p:cNvPr>
          <p:cNvCxnSpPr/>
          <p:nvPr/>
        </p:nvCxnSpPr>
        <p:spPr bwMode="auto">
          <a:xfrm>
            <a:off x="7775151" y="2900474"/>
            <a:ext cx="0" cy="169673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5F50E67-F355-5053-3CD7-F5110A3BC90D}"/>
              </a:ext>
            </a:extLst>
          </p:cNvPr>
          <p:cNvCxnSpPr/>
          <p:nvPr/>
        </p:nvCxnSpPr>
        <p:spPr bwMode="auto">
          <a:xfrm>
            <a:off x="7984985" y="2900474"/>
            <a:ext cx="0" cy="169673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2DFAE23-DEC5-658D-0C56-DC862F4F57E3}"/>
              </a:ext>
            </a:extLst>
          </p:cNvPr>
          <p:cNvSpPr/>
          <p:nvPr/>
        </p:nvSpPr>
        <p:spPr bwMode="auto">
          <a:xfrm>
            <a:off x="7984986" y="2845890"/>
            <a:ext cx="679994" cy="2167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i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antennas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60F5F78-2859-9572-DE4B-483FAD2EFD5C}"/>
              </a:ext>
            </a:extLst>
          </p:cNvPr>
          <p:cNvSpPr/>
          <p:nvPr/>
        </p:nvSpPr>
        <p:spPr bwMode="auto">
          <a:xfrm>
            <a:off x="7945130" y="3481164"/>
            <a:ext cx="679994" cy="2167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i="1" kern="1200" dirty="0">
                <a:solidFill>
                  <a:prstClr val="black"/>
                </a:solidFill>
                <a:latin typeface="Verdana" pitchFamily="34" charset="0"/>
                <a:ea typeface="+mn-ea"/>
              </a:rPr>
              <a:t>cables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CDCCE-698C-F9F3-46E1-0EA92290E41F}"/>
              </a:ext>
            </a:extLst>
          </p:cNvPr>
          <p:cNvSpPr/>
          <p:nvPr/>
        </p:nvSpPr>
        <p:spPr bwMode="auto">
          <a:xfrm>
            <a:off x="3513863" y="2254340"/>
            <a:ext cx="1557585" cy="6531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89" rIns="68580" bIns="34289" numCol="1" rtlCol="0" anchor="t" anchorCtr="0" compatLnSpc="1">
            <a:prstTxWarp prst="textNoShape">
              <a:avLst/>
            </a:prstTxWarp>
          </a:bodyPr>
          <a:lstStyle/>
          <a:p>
            <a:pPr algn="ctr" defTabSz="685781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1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Bare-metal &amp; BubbleRAN O-RAN</a:t>
            </a:r>
            <a:br>
              <a:rPr lang="en-US" sz="1051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</a:br>
            <a:r>
              <a:rPr lang="en-US" sz="1051" kern="1200" dirty="0">
                <a:solidFill>
                  <a:srgbClr val="00B050"/>
                </a:solidFill>
                <a:latin typeface="Verdana" pitchFamily="34" charset="0"/>
                <a:ea typeface="+mn-ea"/>
              </a:rPr>
              <a:t>(Kubernetes)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22796-6FA5-437F-7E9F-D4872D0A3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156" y="785012"/>
            <a:ext cx="902512" cy="545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4B178-3124-278A-6488-7E41DD90EE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662" b="25197"/>
          <a:stretch/>
        </p:blipFill>
        <p:spPr>
          <a:xfrm>
            <a:off x="3771045" y="3559336"/>
            <a:ext cx="1492672" cy="2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5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1" grpId="0" animBg="1"/>
      <p:bldP spid="32" grpId="0" animBg="1"/>
      <p:bldP spid="33" grpId="0" animBg="1"/>
      <p:bldP spid="39" grpId="0" animBg="1"/>
      <p:bldP spid="45" grpId="0" animBg="1"/>
      <p:bldP spid="46" grpId="0" animBg="1"/>
      <p:bldP spid="57" grpId="0" animBg="1"/>
      <p:bldP spid="60" grpId="0" animBg="1"/>
      <p:bldP spid="62" grpId="0" animBg="1"/>
      <p:bldP spid="63" grpId="0" animBg="1"/>
      <p:bldP spid="67" grpId="0"/>
      <p:bldP spid="68" grpId="0"/>
      <p:bldP spid="70" grpId="0" animBg="1"/>
      <p:bldP spid="72" grpId="0" animBg="1"/>
      <p:bldP spid="73" grpId="0"/>
      <p:bldP spid="92" grpId="0" animBg="1"/>
      <p:bldP spid="93" grpId="0" animBg="1"/>
      <p:bldP spid="109" grpId="0" animBg="1"/>
      <p:bldP spid="3" grpId="0"/>
      <p:bldP spid="6" grpId="0" animBg="1"/>
      <p:bldP spid="7" grpId="0" animBg="1"/>
      <p:bldP spid="23" grpId="0"/>
      <p:bldP spid="26" grpId="0" animBg="1"/>
      <p:bldP spid="37" grpId="0"/>
      <p:bldP spid="114" grpId="0" animBg="1"/>
      <p:bldP spid="128" grpId="0" animBg="1"/>
      <p:bldP spid="157" grpId="0"/>
      <p:bldP spid="158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827D-8980-2A91-41C1-1CDD99DA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28" y="1272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O-RAN Testbed at WINLAB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83030-761E-0756-210B-7B0B7561F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90" y="1624209"/>
            <a:ext cx="5277290" cy="2969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A47252-CCBA-DC3E-BE9D-2D816101A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72" y="1624209"/>
            <a:ext cx="1669739" cy="2969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E3DCB-750F-70C0-C64B-66C0685B0D0F}"/>
              </a:ext>
            </a:extLst>
          </p:cNvPr>
          <p:cNvSpPr txBox="1"/>
          <p:nvPr/>
        </p:nvSpPr>
        <p:spPr>
          <a:xfrm>
            <a:off x="529167" y="792581"/>
            <a:ext cx="7006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Platform for O-RAN Energy Efficiency and Performance Testing (POET)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Several commercial O-RUs (low to high power, 4-antenna and 8-antenna RUs)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Established setup for secure and scheduled for remote testing</a:t>
            </a:r>
          </a:p>
        </p:txBody>
      </p:sp>
    </p:spTree>
    <p:extLst>
      <p:ext uri="{BB962C8B-B14F-4D97-AF65-F5344CB8AC3E}">
        <p14:creationId xmlns:p14="http://schemas.microsoft.com/office/powerpoint/2010/main" val="155577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F 2024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C02"/>
      </a:accent4>
      <a:accent5>
        <a:srgbClr val="0097A7"/>
      </a:accent5>
      <a:accent6>
        <a:srgbClr val="CCCCCC"/>
      </a:accent6>
      <a:hlink>
        <a:srgbClr val="4285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PresentationFormat>On-screen Show (16:9)</PresentationFormat>
  <Paragraphs>143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Wingdings</vt:lpstr>
      <vt:lpstr>Montserrat</vt:lpstr>
      <vt:lpstr>Open Sans</vt:lpstr>
      <vt:lpstr>Aptos</vt:lpstr>
      <vt:lpstr>Open Sans Medium</vt:lpstr>
      <vt:lpstr>Arial</vt:lpstr>
      <vt:lpstr>Verdana</vt:lpstr>
      <vt:lpstr>LF 2024 Template</vt:lpstr>
      <vt:lpstr>Introducing OCUDU to  OTICS Feb 5, 2025</vt:lpstr>
      <vt:lpstr>Introduction</vt:lpstr>
      <vt:lpstr>Advantages to start with COSMOS</vt:lpstr>
      <vt:lpstr>Steps involved in introducing OCUDU to OTIC Prepare → Integrate → Validate → Iterate → Certify</vt:lpstr>
      <vt:lpstr>Example: Interface Readiness Checklist</vt:lpstr>
      <vt:lpstr>Who performs OTIC testing?</vt:lpstr>
      <vt:lpstr>“Who touches the keyboard” View</vt:lpstr>
      <vt:lpstr>Next Immediate Steps</vt:lpstr>
      <vt:lpstr>BACKUP INFO </vt:lpstr>
      <vt:lpstr>POET: Platform for O-RAN Energy Efficiency Testing</vt:lpstr>
      <vt:lpstr>O-RAN Testbed at WINLAB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Sarat Puthenpura</cp:lastModifiedBy>
  <cp:revision>1</cp:revision>
  <dcterms:modified xsi:type="dcterms:W3CDTF">2026-02-10T22:26:33Z</dcterms:modified>
</cp:coreProperties>
</file>